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E4874"/>
    <a:srgbClr val="CE373C"/>
    <a:srgbClr val="E7CFD9"/>
    <a:srgbClr val="CC2E33"/>
    <a:srgbClr val="D869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0927" autoAdjust="0"/>
  </p:normalViewPr>
  <p:slideViewPr>
    <p:cSldViewPr showGuides="1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4DA77-0714-4226-8456-DE0FB00C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6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1B435-934F-44C4-8F1B-EC379BCB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8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2F55C-8EFE-4A66-9DB3-D0CB8877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0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F1DA-3491-456F-B971-C43EFCD2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3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A630-F12E-492E-A3AD-AE8A2360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3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Slide.vn - 2019">
            <a:extLst>
              <a:ext uri="{FF2B5EF4-FFF2-40B4-BE49-F238E27FC236}">
                <a16:creationId xmlns:a16="http://schemas.microsoft.com/office/drawing/2014/main" id="{00B20083-83AD-4F60-A2FE-58C840D007FA}"/>
              </a:ext>
            </a:extLst>
          </p:cNvPr>
          <p:cNvSpPr txBox="1"/>
          <p:nvPr userDrawn="1"/>
        </p:nvSpPr>
        <p:spPr>
          <a:xfrm>
            <a:off x="0" y="-1512332"/>
            <a:ext cx="12192000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B0E7E-7BDA-4369-B06E-95E5B313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DE87-7D95-4722-9EE5-248D158C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0A038-BC78-4ECC-BEFF-CCB515E48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B9EE9-F3BF-4B40-83E7-C9BC68FDDB0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DB14-4F91-4B5C-8ACA-1B5E7E69B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118F-80C4-4861-A4D3-A50D382E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CE00B-B040-4546-AF5D-EEF96AA126B0}"/>
              </a:ext>
            </a:extLst>
          </p:cNvPr>
          <p:cNvGrpSpPr>
            <a:grpSpLocks noGrp="1" noSelect="1" noRot="1" noMove="1" noResize="1"/>
          </p:cNvGrpSpPr>
          <p:nvPr userDrawn="1">
            <p:custDataLst>
              <p:tags r:id="rId7"/>
            </p:custDataLst>
          </p:nvPr>
        </p:nvGrpSpPr>
        <p:grpSpPr>
          <a:xfrm>
            <a:off x="-2202100" y="-2224223"/>
            <a:ext cx="16596200" cy="11284323"/>
            <a:chOff x="-2202100" y="-2224223"/>
            <a:chExt cx="16596200" cy="112843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423BDB-6737-4700-9989-01683A4147DA}"/>
                </a:ext>
              </a:extLst>
            </p:cNvPr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9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1E50D3-44ED-477F-84FB-1E24BC65ED8F}"/>
                </a:ext>
              </a:extLst>
            </p:cNvPr>
            <p:cNvSpPr txBox="1"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2700">
                <a:solidFill>
                  <a:schemeClr val="bg1">
                    <a:lumMod val="75000"/>
                  </a:schemeClr>
                </a:solidFill>
                <a:latin typeface="#9Slide02 Noi dung dai" panose="02000000000000000000" pitchFamily="2" charset="0"/>
                <a:ea typeface="#9Slide02 Noi dung dai" panose="02000000000000000000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465F73-4B27-4C0F-9B02-510C8E083EB6}"/>
                </a:ext>
              </a:extLst>
            </p:cNvPr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9Slide.vn">
            <a:extLst>
              <a:ext uri="{FF2B5EF4-FFF2-40B4-BE49-F238E27FC236}">
                <a16:creationId xmlns:a16="http://schemas.microsoft.com/office/drawing/2014/main" id="{0F30810D-0BA7-48B5-9100-E09C5C296021}"/>
              </a:ext>
            </a:extLst>
          </p:cNvPr>
          <p:cNvSpPr>
            <a:spLocks noSelect="1"/>
          </p:cNvSpPr>
          <p:nvPr userDrawn="1">
            <p:custDataLst>
              <p:tags r:id="rId8"/>
            </p:custDataLst>
          </p:nvPr>
        </p:nvSpPr>
        <p:spPr>
          <a:xfrm>
            <a:off x="6091428" y="-8915400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9Slide.vn">
            <a:extLst>
              <a:ext uri="{FF2B5EF4-FFF2-40B4-BE49-F238E27FC236}">
                <a16:creationId xmlns:a16="http://schemas.microsoft.com/office/drawing/2014/main" id="{5703AF2A-1D5F-4BD2-8904-9B6C863CB9B3}"/>
              </a:ext>
            </a:extLst>
          </p:cNvPr>
          <p:cNvSpPr>
            <a:spLocks noSelect="1"/>
          </p:cNvSpPr>
          <p:nvPr userDrawn="1">
            <p:custDataLst>
              <p:tags r:id="rId9"/>
            </p:custDataLst>
          </p:nvPr>
        </p:nvSpPr>
        <p:spPr>
          <a:xfrm>
            <a:off x="6091428" y="15764256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4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4" r:id="rId2"/>
    <p:sldLayoutId id="2147483649" r:id="rId3"/>
    <p:sldLayoutId id="2147483657" r:id="rId4"/>
    <p:sldLayoutId id="214748365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1CDD04F-D483-47E1-902F-143582F48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12192000" cy="73683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B1ED5E-50E6-2E8F-A724-C9403511C0E6}"/>
              </a:ext>
            </a:extLst>
          </p:cNvPr>
          <p:cNvSpPr txBox="1"/>
          <p:nvPr/>
        </p:nvSpPr>
        <p:spPr>
          <a:xfrm>
            <a:off x="1104900" y="1447800"/>
            <a:ext cx="99822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5400" b="1" dirty="0">
                <a:solidFill>
                  <a:srgbClr val="CC2E33"/>
                </a:solidFill>
                <a:latin typeface="Bree Serif" panose="02000503040000020004" pitchFamily="50" charset="0"/>
              </a:rPr>
              <a:t>BÁO CÁO CUỐI KỲ</a:t>
            </a:r>
            <a:endParaRPr lang="en-SG" sz="5400" b="1" dirty="0">
              <a:solidFill>
                <a:srgbClr val="CC2E33"/>
              </a:solidFill>
              <a:latin typeface="Bree Serif" panose="02000503040000020004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BE5F4-98FD-FE5D-AC7D-9440DE4F65FF}"/>
              </a:ext>
            </a:extLst>
          </p:cNvPr>
          <p:cNvSpPr txBox="1"/>
          <p:nvPr/>
        </p:nvSpPr>
        <p:spPr>
          <a:xfrm>
            <a:off x="1962150" y="2432673"/>
            <a:ext cx="82677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4000" dirty="0">
                <a:solidFill>
                  <a:srgbClr val="0E4874"/>
                </a:solidFill>
                <a:latin typeface="iCiel Nabila" pitchFamily="2" charset="0"/>
              </a:rPr>
              <a:t>Machine Learning – Image Processing </a:t>
            </a:r>
            <a:endParaRPr lang="en-SG" sz="4000" dirty="0">
              <a:solidFill>
                <a:srgbClr val="0E4874"/>
              </a:solidFill>
              <a:latin typeface="iCiel Nabil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733A4D-4181-AF0A-7895-C5751D138FEE}"/>
              </a:ext>
            </a:extLst>
          </p:cNvPr>
          <p:cNvSpPr txBox="1"/>
          <p:nvPr/>
        </p:nvSpPr>
        <p:spPr>
          <a:xfrm>
            <a:off x="533400" y="4114800"/>
            <a:ext cx="11125200" cy="1917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D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Phạm Ngọc Duy – 49.01.104.022 – ML</a:t>
            </a:r>
            <a:endParaRPr lang="en-ID" sz="2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D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Phan Quốc Dũng – 49.01.104.019 – IP</a:t>
            </a:r>
            <a:endParaRPr lang="en-ID" sz="2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D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Hoàng </a:t>
            </a:r>
            <a:r>
              <a:rPr lang="en-ID" sz="2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Đạo</a:t>
            </a:r>
            <a:r>
              <a:rPr lang="en-ID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Duy Đạt – 49.01.104.029 – ML + IP</a:t>
            </a:r>
            <a:endParaRPr lang="en-ID" sz="2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D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Nguyễn</a:t>
            </a:r>
            <a:r>
              <a:rPr lang="vi-VN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Đình </a:t>
            </a:r>
            <a:r>
              <a:rPr lang="en-ID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Bình Minh – 49</a:t>
            </a:r>
            <a:r>
              <a:rPr lang="vi-VN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.01.104.090</a:t>
            </a:r>
            <a:r>
              <a:rPr lang="en-ID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IP</a:t>
            </a:r>
            <a:endParaRPr lang="en-ID" sz="2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94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6B821600-8F74-4F96-9448-3F3592BDA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735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3A8E5B-9A65-41CE-9834-A9FB91D868FE}"/>
              </a:ext>
            </a:extLst>
          </p:cNvPr>
          <p:cNvSpPr txBox="1"/>
          <p:nvPr/>
        </p:nvSpPr>
        <p:spPr>
          <a:xfrm>
            <a:off x="2057400" y="2690336"/>
            <a:ext cx="8077200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D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CNV disease detection </a:t>
            </a:r>
            <a:endParaRPr lang="en-ID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OCT scan images of eyes</a:t>
            </a:r>
            <a:endParaRPr lang="en-ID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F4FE19-87FA-7014-AF61-7846BC98DBFB}"/>
              </a:ext>
            </a:extLst>
          </p:cNvPr>
          <p:cNvSpPr txBox="1"/>
          <p:nvPr/>
        </p:nvSpPr>
        <p:spPr>
          <a:xfrm>
            <a:off x="5486400" y="1752600"/>
            <a:ext cx="12192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200" i="1">
                <a:solidFill>
                  <a:srgbClr val="FFFFFF"/>
                </a:solidFill>
                <a:latin typeface="Bree Serif" panose="02000503040000020004" pitchFamily="50" charset="0"/>
              </a:rPr>
              <a:t>Đề tài</a:t>
            </a:r>
            <a:endParaRPr lang="en-SG" sz="3200" i="1">
              <a:solidFill>
                <a:srgbClr val="FFFFFF"/>
              </a:solidFill>
              <a:latin typeface="Bree Serif" panose="02000503040000020004" pitchFamily="50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8133AF-1ADB-07A2-FC41-C89F72B28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511393"/>
              </p:ext>
            </p:extLst>
          </p:nvPr>
        </p:nvGraphicFramePr>
        <p:xfrm>
          <a:off x="2286000" y="5343187"/>
          <a:ext cx="6400800" cy="6548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24036">
                  <a:extLst>
                    <a:ext uri="{9D8B030D-6E8A-4147-A177-3AD203B41FA5}">
                      <a16:colId xmlns:a16="http://schemas.microsoft.com/office/drawing/2014/main" val="922905560"/>
                    </a:ext>
                  </a:extLst>
                </a:gridCol>
                <a:gridCol w="2876764">
                  <a:extLst>
                    <a:ext uri="{9D8B030D-6E8A-4147-A177-3AD203B41FA5}">
                      <a16:colId xmlns:a16="http://schemas.microsoft.com/office/drawing/2014/main" val="4176676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GVHD:</a:t>
                      </a:r>
                      <a:endParaRPr lang="en-SG" sz="2800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SG" sz="2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Ngô Quốc Việt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0280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307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1A8039B6-F3F6-4743-A850-CC454C0BE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0"/>
            <a:ext cx="12186927" cy="68608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6AC05C-959C-9BE1-ABDE-F7FDE08264A1}"/>
              </a:ext>
            </a:extLst>
          </p:cNvPr>
          <p:cNvSpPr txBox="1"/>
          <p:nvPr/>
        </p:nvSpPr>
        <p:spPr>
          <a:xfrm>
            <a:off x="438150" y="2007452"/>
            <a:ext cx="10991850" cy="969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Mắt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CNV (Choroidal Neovascularization)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xuất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mạch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máu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mới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mọc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bất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thường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từ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mạch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mạc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gây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rò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rỉ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dịch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nên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vùng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tối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trên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OCT.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Tổn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thương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CNV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làm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lớp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iểu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võng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bị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đẩy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lên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méo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mó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thành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khối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phồng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rõ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rệt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phá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vỡ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cấu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trúc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lớp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võng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mạc</a:t>
            </a:r>
            <a:r>
              <a:rPr lang="en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ID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B561E7-3ED5-F085-BFE0-80B92774B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0" y="3048000"/>
            <a:ext cx="12776741" cy="34366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84DA2B-F7DC-84D3-5AE1-E82DA697B9D0}"/>
              </a:ext>
            </a:extLst>
          </p:cNvPr>
          <p:cNvSpPr txBox="1"/>
          <p:nvPr/>
        </p:nvSpPr>
        <p:spPr>
          <a:xfrm>
            <a:off x="438150" y="838200"/>
            <a:ext cx="10687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OCT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là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phương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pháp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chẩn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đoán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hình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ảnh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được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sử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dụng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rộng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rãi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trong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nhãn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khoa do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khả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năng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tái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tạo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cấu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trúc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võng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mạc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với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độ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phân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giải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cao</a:t>
            </a:r>
            <a:r>
              <a:rPr lang="en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6078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310D1-9E58-7B0B-079A-030BCC7BA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13870B9-C2FB-3B38-7619-995EAC434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0"/>
            <a:ext cx="12186927" cy="6860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9ED8D2-807E-74E0-EF70-4362D1449F18}"/>
              </a:ext>
            </a:extLst>
          </p:cNvPr>
          <p:cNvSpPr txBox="1"/>
          <p:nvPr/>
        </p:nvSpPr>
        <p:spPr>
          <a:xfrm>
            <a:off x="304800" y="381000"/>
            <a:ext cx="8293768" cy="66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Xử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lý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dữ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liệu</a:t>
            </a:r>
            <a:endParaRPr lang="en-ID" sz="3600" u="sng" kern="100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383B3-347D-6354-519D-ED66C3E8D455}"/>
              </a:ext>
            </a:extLst>
          </p:cNvPr>
          <p:cNvSpPr txBox="1"/>
          <p:nvPr/>
        </p:nvSpPr>
        <p:spPr>
          <a:xfrm>
            <a:off x="318754" y="1754523"/>
            <a:ext cx="4934618" cy="4244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D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Chuyển</a:t>
            </a:r>
            <a:r>
              <a:rPr lang="en-ID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sang grayscale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D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Resize </a:t>
            </a:r>
            <a:r>
              <a:rPr lang="en-ID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ID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224×224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D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Bilateral Filter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nhiễu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D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CLAHE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tăng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cường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tương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phản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D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D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Laplacian Sharpening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làm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nổi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biên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giúp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học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đặc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trưng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cạnh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hơn</a:t>
            </a:r>
            <a:endParaRPr lang="en-ID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D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Chuẩn</a:t>
            </a:r>
            <a:r>
              <a:rPr lang="en-ID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hóa</a:t>
            </a:r>
            <a:r>
              <a:rPr lang="en-ID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/ scale to [0,1]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giúp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gradient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ổn</a:t>
            </a:r>
            <a:r>
              <a:rPr lang="en-ID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endParaRPr lang="en-ID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D" b="1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Expand_dims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thêm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chiều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kênh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ảnh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để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CNN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dễ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xử</a:t>
            </a:r>
            <a:r>
              <a:rPr lang="en-ID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lý</a:t>
            </a:r>
            <a:endParaRPr lang="en-ID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collage of images of a person's body&#10;&#10;AI-generated content may be incorrect.">
            <a:extLst>
              <a:ext uri="{FF2B5EF4-FFF2-40B4-BE49-F238E27FC236}">
                <a16:creationId xmlns:a16="http://schemas.microsoft.com/office/drawing/2014/main" id="{B3F0D423-3130-9E78-3846-AAE5C3F88A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47775"/>
            <a:ext cx="5923177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DE92A5-24F5-01F7-6570-93E96D6E60EA}"/>
              </a:ext>
            </a:extLst>
          </p:cNvPr>
          <p:cNvSpPr/>
          <p:nvPr/>
        </p:nvSpPr>
        <p:spPr>
          <a:xfrm>
            <a:off x="7696200" y="1295400"/>
            <a:ext cx="1676400" cy="2514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839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0E239-5A3D-7516-E7C4-24A3F348A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4AFE3493-3273-8442-6D3B-E676F6D02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0"/>
            <a:ext cx="12186927" cy="6860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E2F7BF-13E3-8216-517E-97EC6413F480}"/>
              </a:ext>
            </a:extLst>
          </p:cNvPr>
          <p:cNvSpPr txBox="1"/>
          <p:nvPr/>
        </p:nvSpPr>
        <p:spPr>
          <a:xfrm>
            <a:off x="304800" y="381000"/>
            <a:ext cx="8293768" cy="66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Xử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lý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dữ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liệu</a:t>
            </a:r>
            <a:endParaRPr lang="en-ID" sz="3600" u="sng" kern="100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C807F4-4988-9097-4D97-2A2E508521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95400"/>
            <a:ext cx="10256292" cy="5029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980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99E48-8554-8981-D96E-30E1D361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EF406712-B920-60BE-EC53-6AEA9BD92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0"/>
            <a:ext cx="12186927" cy="6860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6BF8C1-B267-147D-3027-0AD584DE788F}"/>
              </a:ext>
            </a:extLst>
          </p:cNvPr>
          <p:cNvSpPr txBox="1"/>
          <p:nvPr/>
        </p:nvSpPr>
        <p:spPr>
          <a:xfrm>
            <a:off x="304800" y="381000"/>
            <a:ext cx="8293768" cy="66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Xử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lý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dữ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liệu</a:t>
            </a:r>
            <a:endParaRPr lang="en-ID" sz="3600" u="sng" kern="100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C9E089-144F-0AFD-ADB5-8D26A338D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72693"/>
              </p:ext>
            </p:extLst>
          </p:nvPr>
        </p:nvGraphicFramePr>
        <p:xfrm>
          <a:off x="2057400" y="2971800"/>
          <a:ext cx="7696201" cy="165339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70691">
                  <a:extLst>
                    <a:ext uri="{9D8B030D-6E8A-4147-A177-3AD203B41FA5}">
                      <a16:colId xmlns:a16="http://schemas.microsoft.com/office/drawing/2014/main" val="3106846889"/>
                    </a:ext>
                  </a:extLst>
                </a:gridCol>
                <a:gridCol w="1801371">
                  <a:extLst>
                    <a:ext uri="{9D8B030D-6E8A-4147-A177-3AD203B41FA5}">
                      <a16:colId xmlns:a16="http://schemas.microsoft.com/office/drawing/2014/main" val="1261339577"/>
                    </a:ext>
                  </a:extLst>
                </a:gridCol>
                <a:gridCol w="2020861">
                  <a:extLst>
                    <a:ext uri="{9D8B030D-6E8A-4147-A177-3AD203B41FA5}">
                      <a16:colId xmlns:a16="http://schemas.microsoft.com/office/drawing/2014/main" val="2178296818"/>
                    </a:ext>
                  </a:extLst>
                </a:gridCol>
                <a:gridCol w="1903278">
                  <a:extLst>
                    <a:ext uri="{9D8B030D-6E8A-4147-A177-3AD203B41FA5}">
                      <a16:colId xmlns:a16="http://schemas.microsoft.com/office/drawing/2014/main" val="52145099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b="1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Lớp</a:t>
                      </a:r>
                      <a:endParaRPr lang="en-ID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b="1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ID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2000" b="1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ảnh</a:t>
                      </a:r>
                      <a:r>
                        <a:rPr lang="en-ID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Train</a:t>
                      </a:r>
                      <a:endParaRPr lang="en-ID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b="1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ID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2000" b="1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ảnh</a:t>
                      </a:r>
                      <a:r>
                        <a:rPr lang="en-ID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</a:t>
                      </a:r>
                      <a:endParaRPr lang="en-ID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b="1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ID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2000" b="1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ảnh</a:t>
                      </a:r>
                      <a:r>
                        <a:rPr lang="en-ID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</a:t>
                      </a:r>
                      <a:endParaRPr lang="en-ID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667394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D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~40,912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~10,228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~2,300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1797720"/>
                  </a:ext>
                </a:extLst>
              </a:tr>
              <a:tr h="5103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CNV</a:t>
                      </a:r>
                      <a:endParaRPr lang="en-ID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~29,760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~7,440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~2,300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3632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86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29D3-3E4D-BAC8-44BF-1A4C33313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1BB5F90F-7F9C-4866-E4BC-2168BE232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0"/>
            <a:ext cx="12186927" cy="6860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0317EC-E0D4-90D6-8553-D1103D1ECF46}"/>
              </a:ext>
            </a:extLst>
          </p:cNvPr>
          <p:cNvSpPr txBox="1"/>
          <p:nvPr/>
        </p:nvSpPr>
        <p:spPr>
          <a:xfrm>
            <a:off x="304800" y="381000"/>
            <a:ext cx="8293768" cy="66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CNN</a:t>
            </a:r>
            <a:endParaRPr lang="en-ID" sz="3600" u="sng" kern="100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88E36-431F-6B22-1918-5B7F655D24DC}"/>
              </a:ext>
            </a:extLst>
          </p:cNvPr>
          <p:cNvSpPr txBox="1"/>
          <p:nvPr/>
        </p:nvSpPr>
        <p:spPr>
          <a:xfrm>
            <a:off x="304800" y="1295400"/>
            <a:ext cx="8293768" cy="439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D" sz="22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SimpleCNN</a:t>
            </a:r>
            <a:r>
              <a:rPr lang="en-ID" sz="22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iến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trúc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tiêu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chuẩn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3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khối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convolution.</a:t>
            </a:r>
            <a:endParaRPr lang="en-ID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diagram of a simple news&#10;&#10;AI-generated content may be incorrect.">
            <a:extLst>
              <a:ext uri="{FF2B5EF4-FFF2-40B4-BE49-F238E27FC236}">
                <a16:creationId xmlns:a16="http://schemas.microsoft.com/office/drawing/2014/main" id="{751C7094-0F34-CADC-B95B-63B54F820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444" y="2007957"/>
            <a:ext cx="7377112" cy="44538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6440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DEB78-D5EF-CAD8-F9EA-ECD03145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9B1BCBE3-55DD-77F8-E7AB-E0C8623C7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0"/>
            <a:ext cx="12186927" cy="6860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DC946F-D8CE-4A07-910A-EE0DEC85A07D}"/>
              </a:ext>
            </a:extLst>
          </p:cNvPr>
          <p:cNvSpPr txBox="1"/>
          <p:nvPr/>
        </p:nvSpPr>
        <p:spPr>
          <a:xfrm>
            <a:off x="304800" y="381000"/>
            <a:ext cx="8293768" cy="66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CNN</a:t>
            </a:r>
            <a:endParaRPr lang="en-ID" sz="3600" u="sng" kern="100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857033-8E95-19ED-85D1-D47F69C1E4FD}"/>
              </a:ext>
            </a:extLst>
          </p:cNvPr>
          <p:cNvSpPr txBox="1"/>
          <p:nvPr/>
        </p:nvSpPr>
        <p:spPr>
          <a:xfrm>
            <a:off x="240632" y="1295400"/>
            <a:ext cx="8293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D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ShallowCNN</a:t>
            </a:r>
            <a:r>
              <a:rPr lang="en-ID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covolution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2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diagram of a diagram of a network&#10;&#10;AI-generated content may be incorrect.">
            <a:extLst>
              <a:ext uri="{FF2B5EF4-FFF2-40B4-BE49-F238E27FC236}">
                <a16:creationId xmlns:a16="http://schemas.microsoft.com/office/drawing/2014/main" id="{DE994322-CD89-A494-A655-5C899FE5E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708" y="2057400"/>
            <a:ext cx="7706360" cy="46224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195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26732-D925-0DE6-EB57-C55A6A326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878179F5-5608-3010-F9C8-360D5B938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0"/>
            <a:ext cx="12186927" cy="6860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D9D3EF-6DB7-69A7-D823-21313A7FE9DE}"/>
              </a:ext>
            </a:extLst>
          </p:cNvPr>
          <p:cNvSpPr txBox="1"/>
          <p:nvPr/>
        </p:nvSpPr>
        <p:spPr>
          <a:xfrm>
            <a:off x="304800" y="381000"/>
            <a:ext cx="8293768" cy="66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CNN</a:t>
            </a:r>
            <a:endParaRPr lang="en-ID" sz="3600" u="sng" kern="100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9FB8CB54-3AD0-C448-69A7-A92C3E7DD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352" y="2875593"/>
            <a:ext cx="7721296" cy="376551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3B70EC-7994-703E-8706-F3A3970A31F8}"/>
              </a:ext>
            </a:extLst>
          </p:cNvPr>
          <p:cNvSpPr txBox="1"/>
          <p:nvPr/>
        </p:nvSpPr>
        <p:spPr>
          <a:xfrm>
            <a:off x="292769" y="1041437"/>
            <a:ext cx="8296274" cy="1834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D" sz="22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ResidualCNN</a:t>
            </a:r>
            <a:endParaRPr lang="en-ID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khối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Residual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hai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khối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convolution. </a:t>
            </a:r>
            <a:endParaRPr lang="en-ID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Sử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dụng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residual blocks (x + F(x)).</a:t>
            </a:r>
            <a:endParaRPr lang="en-ID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Giảm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mất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mát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gradient,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hội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tụ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ổn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2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hơn</a:t>
            </a:r>
            <a:r>
              <a:rPr lang="en-ID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ID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21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143FB-EB4F-1F54-4F74-1B109537A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82004700-9F90-ED03-2B1F-2C946F2B4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0"/>
            <a:ext cx="12186927" cy="6860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C46F6C-AFA1-88A3-A4BA-9C5FEE69CD88}"/>
              </a:ext>
            </a:extLst>
          </p:cNvPr>
          <p:cNvSpPr txBox="1"/>
          <p:nvPr/>
        </p:nvSpPr>
        <p:spPr>
          <a:xfrm>
            <a:off x="304800" y="381000"/>
            <a:ext cx="8293768" cy="66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nghiệm</a:t>
            </a:r>
            <a:endParaRPr lang="en-ID" sz="3600" u="sng" kern="100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84D6AC-F9F3-4B24-D853-8473DD60D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219199"/>
            <a:ext cx="4876801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8F3BE0-C443-94D4-BB0E-0C83E09B8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465" y="4267200"/>
            <a:ext cx="5538153" cy="2441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0AE427-9C4D-E171-CF47-38D53EF365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219199"/>
            <a:ext cx="4795170" cy="28448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573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5EF48-14C1-222A-9B06-2F4F3EC11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1E2F1F51-6DDB-4EFB-BF4D-EA63F6D2B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0"/>
            <a:ext cx="12186927" cy="6860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4BA6EA-E069-A2DF-67B0-AF9E109BBFF3}"/>
              </a:ext>
            </a:extLst>
          </p:cNvPr>
          <p:cNvSpPr txBox="1"/>
          <p:nvPr/>
        </p:nvSpPr>
        <p:spPr>
          <a:xfrm>
            <a:off x="304800" y="381000"/>
            <a:ext cx="8293768" cy="66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nghiệm</a:t>
            </a:r>
            <a:endParaRPr lang="en-ID" sz="3600" u="sng" kern="100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EA34A0-B214-612C-146A-1BF7EF9DE8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14600"/>
            <a:ext cx="10806074" cy="2694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11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4DB53-0838-2063-FC40-EADEEE6A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CA99E644-83B3-E949-0197-A0D47D802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0"/>
            <a:ext cx="12186927" cy="6860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00ACB0-4961-A1DE-48AE-676E5F1E8543}"/>
              </a:ext>
            </a:extLst>
          </p:cNvPr>
          <p:cNvSpPr txBox="1"/>
          <p:nvPr/>
        </p:nvSpPr>
        <p:spPr>
          <a:xfrm>
            <a:off x="304800" y="381000"/>
            <a:ext cx="8293768" cy="66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r>
              <a:rPr lang="en-ID" sz="3600" b="1" u="sng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3600" b="1" u="sng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nghiệm</a:t>
            </a:r>
            <a:endParaRPr lang="en-ID" sz="3600" u="sng" kern="100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ADE60F-12D7-1435-1B54-C233C52A6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62" y="1422437"/>
            <a:ext cx="4495800" cy="35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04AD4C-12A5-8214-0FE9-79E2F428D8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987" y="1650719"/>
            <a:ext cx="5730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B0A01C-9E5E-C65F-3B4C-9D8D63B304D5}"/>
              </a:ext>
            </a:extLst>
          </p:cNvPr>
          <p:cNvSpPr txBox="1"/>
          <p:nvPr/>
        </p:nvSpPr>
        <p:spPr>
          <a:xfrm>
            <a:off x="652162" y="5256270"/>
            <a:ext cx="106254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Kết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quả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AUC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không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cho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thấy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quá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nhiều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khác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biệt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giữa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ba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mô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hình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</a:p>
          <a:p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Thời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gian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train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ShallowCNN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thấp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hơn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đáng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kể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so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với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hai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mô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hình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còn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</a:rPr>
              <a:t>lại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</a:p>
          <a:p>
            <a:endParaRPr lang="en-ID" dirty="0"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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Sử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dụng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mô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hình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ShallowCNN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 (2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khối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 convolution)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là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lựa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chọn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tối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 </a:t>
            </a:r>
            <a:r>
              <a:rPr lang="en-ID" dirty="0" err="1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ưu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  <a:sym typeface="Wingdings" panose="05000000000000000000" pitchFamily="2" charset="2"/>
              </a:rPr>
              <a:t>.</a:t>
            </a:r>
            <a:r>
              <a:rPr lang="en-ID" dirty="0"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3809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9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Office Theme">
  <a:themeElements>
    <a:clrScheme name="9Slide - 2021">
      <a:dk1>
        <a:sysClr val="windowText" lastClr="000000"/>
      </a:dk1>
      <a:lt1>
        <a:sysClr val="window" lastClr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9Slide Fonts">
      <a:majorFont>
        <a:latin typeface="#9Slide02 Tieu de dai"/>
        <a:ea typeface=""/>
        <a:cs typeface=""/>
      </a:majorFont>
      <a:minorFont>
        <a:latin typeface="#9Slide02 Noi dung d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C410E64-73D4-4894-A16A-B0A564A2C1B3}" vid="{BD11DD77-7AB8-40E7-98B4-F754939C4E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429</TotalTime>
  <Words>380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#9Slide02 Noi dung dai</vt:lpstr>
      <vt:lpstr>#9Slide02 Tieu de dai</vt:lpstr>
      <vt:lpstr>Aptos</vt:lpstr>
      <vt:lpstr>Arial</vt:lpstr>
      <vt:lpstr>Bree Serif</vt:lpstr>
      <vt:lpstr>Courier New</vt:lpstr>
      <vt:lpstr>iCiel Nabila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9Slide.vn</dc:subject>
  <dc:creator>Thanh Lan Trần Nguyễn</dc:creator>
  <cp:keywords>9Slide</cp:keywords>
  <dc:description>9Slide.vn</dc:description>
  <cp:lastModifiedBy>HOANG DAO DUY DAT</cp:lastModifiedBy>
  <cp:revision>13</cp:revision>
  <dcterms:created xsi:type="dcterms:W3CDTF">2023-03-20T03:25:09Z</dcterms:created>
  <dcterms:modified xsi:type="dcterms:W3CDTF">2025-12-11T02:36:34Z</dcterms:modified>
  <cp:category>9Slide.vn</cp:category>
  <cp:contentStatus>9Slide</cp:contentStatus>
</cp:coreProperties>
</file>